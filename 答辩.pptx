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55" r:id="rId3"/>
  </p:sldMasterIdLst>
  <p:notesMasterIdLst>
    <p:notesMasterId r:id="rId16"/>
  </p:notesMasterIdLst>
  <p:handoutMasterIdLst>
    <p:handoutMasterId r:id="rId17"/>
  </p:handoutMasterIdLst>
  <p:sldIdLst>
    <p:sldId id="259" r:id="rId4"/>
    <p:sldId id="418" r:id="rId5"/>
    <p:sldId id="448" r:id="rId6"/>
    <p:sldId id="455" r:id="rId7"/>
    <p:sldId id="449" r:id="rId8"/>
    <p:sldId id="425" r:id="rId9"/>
    <p:sldId id="454" r:id="rId10"/>
    <p:sldId id="450" r:id="rId11"/>
    <p:sldId id="429" r:id="rId12"/>
    <p:sldId id="451" r:id="rId13"/>
    <p:sldId id="441" r:id="rId14"/>
    <p:sldId id="432" r:id="rId15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3996"/>
    <a:srgbClr val="FFFFFF"/>
    <a:srgbClr val="FF6600"/>
    <a:srgbClr val="F3F8FD"/>
    <a:srgbClr val="FCFDFF"/>
    <a:srgbClr val="CCECFF"/>
    <a:srgbClr val="093A97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gs" Target="tags/tag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AB05413-37F7-4311-53CD-690A4634B1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B40F51-D456-D682-72A3-0EC0CAFB13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58546-AE0F-439F-8B34-C6AB6CBE1A39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BAB3D5-FC39-9067-4859-E31EC3655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E055BE-FA40-51C0-99EC-E19EEF041E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64C4BD-9F4E-4EA0-9D48-808BD57F0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390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0EEBF-22BD-4238-8BCF-59208E8FB950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B4598-FE04-4E62-8DDA-F2D879BE50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/>
              <a:t>字体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CF60BBA-44E2-4BFD-AA3A-42ED169ACA5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照片堆叠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CF60BBA-44E2-4BFD-AA3A-42ED169ACA5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D265D-F16E-C379-0A65-94E43D1F9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FC2794-5CC8-F7AE-2162-95FB040E6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A9E9E9-7184-B1AC-0501-82291FCB5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照片堆叠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E5D743-C52B-CDB4-FCC4-D6E60050DD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CF60BBA-44E2-4BFD-AA3A-42ED169ACA5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3577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照片堆叠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CF60BBA-44E2-4BFD-AA3A-42ED169ACA5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照片堆叠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CF60BBA-44E2-4BFD-AA3A-42ED169ACA5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9081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照片堆叠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CF60BBA-44E2-4BFD-AA3A-42ED169ACA5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照片堆叠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CF60BBA-44E2-4BFD-AA3A-42ED169ACA5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748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4354-8ADC-481E-921D-3F5BEEB44974}" type="datetime1">
              <a:rPr lang="zh-CN" altLang="en-US" smtClean="0"/>
              <a:t>2025/12/5</a:t>
            </a:fld>
            <a:endParaRPr lang="zh-CN" altLang="en-US" sz="24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784DD-0DDF-44AB-86EA-1FB45FBB9CA7}" type="slidenum">
              <a:rPr lang="zh-CN" altLang="en-US" smtClean="0"/>
              <a:t>‹#›</a:t>
            </a:fld>
            <a:endParaRPr lang="zh-CN" altLang="en-US" sz="24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4354-8ADC-481E-921D-3F5BEEB44974}" type="datetime1">
              <a:rPr lang="zh-CN" altLang="en-US" smtClean="0"/>
              <a:t>2025/12/5</a:t>
            </a:fld>
            <a:endParaRPr lang="zh-CN" altLang="en-US" sz="24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784DD-0DDF-44AB-86EA-1FB45FBB9CA7}" type="slidenum">
              <a:rPr lang="zh-CN" altLang="en-US" smtClean="0"/>
              <a:t>‹#›</a:t>
            </a:fld>
            <a:endParaRPr lang="zh-CN" altLang="en-US" sz="24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5DC24-EE97-4A8D-B7DD-A2B61B60E855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4F95-940C-494E-9C5E-CAE361D98C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932EF3-D252-528F-7B3C-5EE046A69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453C30-EEF0-4B5B-08E4-B76B2717A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C3DF6B-79A7-7B2E-55FA-FC019C0D1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C0AD6-5080-46DF-8B27-37F5E37340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EB8425-5C1B-96C7-2731-0E2353919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E69D0A-85F4-C007-F2F5-4E38E4251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EBB1-4C0D-4ECB-972F-9DD86DD60FC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08DCDB-C502-CA61-718E-AE299DE55ECF}"/>
              </a:ext>
            </a:extLst>
          </p:cNvPr>
          <p:cNvSpPr/>
          <p:nvPr userDrawn="1"/>
        </p:nvSpPr>
        <p:spPr>
          <a:xfrm>
            <a:off x="-1" y="2244725"/>
            <a:ext cx="12192001" cy="2368550"/>
          </a:xfrm>
          <a:prstGeom prst="rect">
            <a:avLst/>
          </a:prstGeom>
          <a:solidFill>
            <a:srgbClr val="093A97"/>
          </a:solidFill>
          <a:ln>
            <a:solidFill>
              <a:srgbClr val="093A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8591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A33C11-BFFE-29C5-7C36-0387E91FC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03FB32-E3C8-50D5-0791-0C9136FF3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4B7507-A207-7479-0F62-A9567CD9B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C0AD6-5080-46DF-8B27-37F5E37340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B38426-F735-42E0-07EF-8DF16785B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DAB8E4-B730-9C19-7EEA-CF257201D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EBB1-4C0D-4ECB-972F-9DD86DD60F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133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01BD9C-C84D-0752-4F5E-BDC1414FF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120BA5-AFB8-E065-B8BB-0F8C1D36D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5E4FF3-67EC-6D70-6977-8E88BB99C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C0AD6-5080-46DF-8B27-37F5E37340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7B83DD-D0F9-7226-C659-54EA9D2CA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815F39-276D-85BD-6AAB-FFA35C70A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EBB1-4C0D-4ECB-972F-9DD86DD60F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75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14161A-7891-ABC6-670E-72A8B298C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9EFFD9-06BA-171E-B329-7AB69757C1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1026E9-A4D3-93F0-73D0-5B159B141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3A0DCA-93FC-A7FC-44A7-64A0E09CF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C0AD6-5080-46DF-8B27-37F5E37340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C70A29-84B3-52B8-77D6-73D524B1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CEB497-AB1B-7C0D-1C28-9654DA7CF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EBB1-4C0D-4ECB-972F-9DD86DD60F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445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5F0D3-56D2-E5D7-8A88-0CA5D3F74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150A54-3A0D-ACD8-F74E-7FE0FD812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8738C3-C273-41A1-CB35-CD4497BC9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DCE312-8A8C-657F-B442-B48815550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8751AD-90A5-9764-3A67-462E66304C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D5078F3-2B1E-4771-5BF4-51545B1FB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C0AD6-5080-46DF-8B27-37F5E37340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77DA8F2-4305-F2FA-27D9-CA62DA44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B516281-EEB6-840F-B5B4-0905EDCFA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EBB1-4C0D-4ECB-972F-9DD86DD60F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050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183547-E2AE-D3BA-5BD8-F44BD72F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FABC89-E909-C09D-3D4C-390C87B56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C0AD6-5080-46DF-8B27-37F5E37340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F8A0B2-708D-0B65-2BD7-30360F07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AE0C81-D4F6-C850-165D-3BE982DEA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EBB1-4C0D-4ECB-972F-9DD86DD60F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152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2B63F9-0F3C-BEE6-5568-E1B6DBD62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C0AD6-5080-46DF-8B27-37F5E37340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76C429-CBCE-5015-C249-16116B993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022021-4519-A012-7BA3-B3E0BBC87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EBB1-4C0D-4ECB-972F-9DD86DD60F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87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4F6E4-C06D-A614-501A-7A81C1A79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87A3C8-B0A9-F2EE-BEA2-B93EB7E23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150332-CFA9-A5C2-770A-F2CA3D50B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00C802-56CA-62C2-F3C9-8BDD4233C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C0AD6-5080-46DF-8B27-37F5E37340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195548-4588-A169-6904-7E23A3E21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EC537F-F515-5278-56A2-37A19FB8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EBB1-4C0D-4ECB-972F-9DD86DD60F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385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B08F49-F8CD-0A3E-E5AA-E79FC849C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895455E-2326-C203-9F8B-2A6AE65B6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269539-D956-97B8-D4B4-8B785AD06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7B1992-C695-0628-7718-CE06EA44B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C0AD6-5080-46DF-8B27-37F5E37340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DE9122-50A5-D0C3-8E68-535A0A946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D966B4-3B6C-9D21-A8E4-FC832F69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EBB1-4C0D-4ECB-972F-9DD86DD60F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60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5156E4-BBCA-B471-F83C-C64F7AB7F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F22561-FA80-829F-15EA-9B3896BC5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9FE40B-27F9-1513-8659-D360940E1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C0AD6-5080-46DF-8B27-37F5E37340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935513-4187-F80B-41DC-3EBBAA2A4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425787-60A8-C9D7-6154-C25FA392C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EBB1-4C0D-4ECB-972F-9DD86DD60F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6688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6693E3-A452-A264-83CE-0443AC6386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77F8E8-2DB4-66C7-B5C1-3ED93A1FD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1929A9-EC68-FF36-B676-6CA4CDA2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C0AD6-5080-46DF-8B27-37F5E37340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086004-3971-B877-1452-4EFD9D0C0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9717C2-69FE-D950-1F0B-50C21D711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EBB1-4C0D-4ECB-972F-9DD86DD60F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667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14354-8ADC-481E-921D-3F5BEEB44974}" type="datetime1">
              <a:rPr lang="zh-CN" altLang="en-US" smtClean="0"/>
              <a:t>2025/12/5</a:t>
            </a:fld>
            <a:endParaRPr lang="zh-CN" altLang="en-US" sz="24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2B1E9-FB49-4EB8-9316-4F0B455CACB5}" type="slidenum">
              <a:rPr lang="zh-CN" altLang="en-US" smtClean="0"/>
              <a:t>‹#›</a:t>
            </a:fld>
            <a:endParaRPr lang="zh-CN" altLang="en-US" sz="24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14354-8ADC-481E-921D-3F5BEEB44974}" type="datetime1">
              <a:rPr lang="zh-CN" altLang="en-US" smtClean="0"/>
              <a:t>2025/12/5</a:t>
            </a:fld>
            <a:endParaRPr lang="zh-CN" altLang="en-US" sz="24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2B1E9-FB49-4EB8-9316-4F0B455CACB5}" type="slidenum">
              <a:rPr lang="zh-CN" altLang="en-US" smtClean="0"/>
              <a:t>‹#›</a:t>
            </a:fld>
            <a:endParaRPr lang="zh-CN" altLang="en-US" sz="24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" y="2244725"/>
            <a:ext cx="12192001" cy="2368550"/>
          </a:xfrm>
          <a:prstGeom prst="rect">
            <a:avLst/>
          </a:prstGeom>
          <a:solidFill>
            <a:srgbClr val="093A97"/>
          </a:solidFill>
          <a:ln>
            <a:solidFill>
              <a:srgbClr val="093A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6601B4D-397E-92DF-DDAC-47571567C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E0805A-33EF-D26C-2CD9-B8A272EFC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17FEE2-1B01-A820-9608-D1E3963C9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C0AD6-5080-46DF-8B27-37F5E37340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3639B0-F0AE-E97F-E0E7-0A0DEDCF87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601349-F321-AA0A-DE9D-D7E84D11F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FEBB1-4C0D-4ECB-972F-9DD86DD60F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972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3"/>
          <p:cNvSpPr txBox="1"/>
          <p:nvPr/>
        </p:nvSpPr>
        <p:spPr>
          <a:xfrm>
            <a:off x="0" y="1874738"/>
            <a:ext cx="121920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800" b="1" dirty="0">
                <a:solidFill>
                  <a:srgbClr val="093A9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期货云哨兵 </a:t>
            </a:r>
            <a:r>
              <a:rPr lang="en-US" altLang="zh-CN" sz="4000" b="1" dirty="0">
                <a:solidFill>
                  <a:srgbClr val="093A9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Futures Cloud Sentinel</a:t>
            </a:r>
          </a:p>
          <a:p>
            <a:pPr lvl="0">
              <a:defRPr/>
            </a:pPr>
            <a:endParaRPr lang="en-US" altLang="zh-CN" b="1" dirty="0">
              <a:solidFill>
                <a:srgbClr val="093A97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 algn="ctr">
              <a:defRPr/>
            </a:pPr>
            <a:r>
              <a:rPr lang="en-US" altLang="zh-CN" sz="4800" b="1" dirty="0">
                <a:solidFill>
                  <a:srgbClr val="093A9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——</a:t>
            </a:r>
            <a:r>
              <a:rPr lang="zh-CN" altLang="en-US" sz="4800" b="1" dirty="0">
                <a:solidFill>
                  <a:srgbClr val="093A9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期货云端预警系统开发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093A97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" name="副标题 1"/>
          <p:cNvSpPr txBox="1"/>
          <p:nvPr/>
        </p:nvSpPr>
        <p:spPr bwMode="auto">
          <a:xfrm>
            <a:off x="8536446" y="5108979"/>
            <a:ext cx="3488391" cy="523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802" tIns="32401" rIns="64802" bIns="32401"/>
          <a:lstStyle>
            <a:lvl1pPr defTabSz="863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63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63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63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63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63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63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63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63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rgbClr val="093A9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答辩小组：项目一</a:t>
            </a:r>
            <a:r>
              <a:rPr lang="en-US" altLang="zh-CN" sz="2000" b="1" dirty="0">
                <a:solidFill>
                  <a:srgbClr val="093A9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2000" b="1" dirty="0">
                <a:solidFill>
                  <a:srgbClr val="093A9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第一小组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93A97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931504" y="3807767"/>
            <a:ext cx="8328991" cy="1561465"/>
            <a:chOff x="2835239" y="4875429"/>
            <a:chExt cx="6584950" cy="1561672"/>
          </a:xfrm>
        </p:grpSpPr>
        <p:sp>
          <p:nvSpPr>
            <p:cNvPr id="11" name="流程图: 资料带 10"/>
            <p:cNvSpPr/>
            <p:nvPr/>
          </p:nvSpPr>
          <p:spPr>
            <a:xfrm>
              <a:off x="2835239" y="4875429"/>
              <a:ext cx="6521522" cy="1561672"/>
            </a:xfrm>
            <a:prstGeom prst="flowChartPunchedTap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2871850" y="5529791"/>
              <a:ext cx="593834" cy="222440"/>
              <a:chOff x="1916129" y="5548045"/>
              <a:chExt cx="1012005" cy="364037"/>
            </a:xfrm>
          </p:grpSpPr>
          <p:sp>
            <p:nvSpPr>
              <p:cNvPr id="17" name="燕尾形 16"/>
              <p:cNvSpPr/>
              <p:nvPr/>
            </p:nvSpPr>
            <p:spPr>
              <a:xfrm>
                <a:off x="1916129" y="5548045"/>
                <a:ext cx="375007" cy="359595"/>
              </a:xfrm>
              <a:prstGeom prst="chevron">
                <a:avLst/>
              </a:prstGeom>
              <a:solidFill>
                <a:srgbClr val="093A97"/>
              </a:solidFill>
              <a:ln>
                <a:solidFill>
                  <a:srgbClr val="093A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" name="燕尾形 17"/>
              <p:cNvSpPr/>
              <p:nvPr/>
            </p:nvSpPr>
            <p:spPr>
              <a:xfrm>
                <a:off x="2239765" y="5548045"/>
                <a:ext cx="375007" cy="359595"/>
              </a:xfrm>
              <a:prstGeom prst="chevron">
                <a:avLst/>
              </a:prstGeom>
              <a:solidFill>
                <a:srgbClr val="093A97"/>
              </a:solidFill>
              <a:ln>
                <a:solidFill>
                  <a:srgbClr val="093A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9" name="燕尾形 18"/>
              <p:cNvSpPr/>
              <p:nvPr/>
            </p:nvSpPr>
            <p:spPr>
              <a:xfrm>
                <a:off x="2553127" y="5552487"/>
                <a:ext cx="375007" cy="359595"/>
              </a:xfrm>
              <a:prstGeom prst="chevron">
                <a:avLst/>
              </a:prstGeom>
              <a:solidFill>
                <a:srgbClr val="093A97"/>
              </a:solidFill>
              <a:ln>
                <a:solidFill>
                  <a:srgbClr val="093A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 flipH="1">
              <a:off x="8816195" y="5536834"/>
              <a:ext cx="603994" cy="222440"/>
              <a:chOff x="1898814" y="5548045"/>
              <a:chExt cx="1029320" cy="364037"/>
            </a:xfrm>
          </p:grpSpPr>
          <p:sp>
            <p:nvSpPr>
              <p:cNvPr id="4" name="燕尾形 3"/>
              <p:cNvSpPr/>
              <p:nvPr/>
            </p:nvSpPr>
            <p:spPr>
              <a:xfrm>
                <a:off x="1898814" y="5548045"/>
                <a:ext cx="375007" cy="359595"/>
              </a:xfrm>
              <a:prstGeom prst="chevron">
                <a:avLst/>
              </a:prstGeom>
              <a:solidFill>
                <a:srgbClr val="093A97"/>
              </a:solidFill>
              <a:ln>
                <a:solidFill>
                  <a:srgbClr val="093A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5" name="燕尾形 4"/>
              <p:cNvSpPr/>
              <p:nvPr/>
            </p:nvSpPr>
            <p:spPr>
              <a:xfrm>
                <a:off x="2239765" y="5548045"/>
                <a:ext cx="375007" cy="359595"/>
              </a:xfrm>
              <a:prstGeom prst="chevron">
                <a:avLst/>
              </a:prstGeom>
              <a:solidFill>
                <a:srgbClr val="093A97"/>
              </a:solidFill>
              <a:ln>
                <a:solidFill>
                  <a:srgbClr val="093A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6" name="燕尾形 15"/>
              <p:cNvSpPr/>
              <p:nvPr/>
            </p:nvSpPr>
            <p:spPr>
              <a:xfrm>
                <a:off x="2553127" y="5552487"/>
                <a:ext cx="375007" cy="359595"/>
              </a:xfrm>
              <a:prstGeom prst="chevron">
                <a:avLst/>
              </a:prstGeom>
              <a:solidFill>
                <a:srgbClr val="093A97"/>
              </a:solidFill>
              <a:ln>
                <a:solidFill>
                  <a:srgbClr val="093A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  <p:sp>
        <p:nvSpPr>
          <p:cNvPr id="15" name="文本框 14"/>
          <p:cNvSpPr txBox="1"/>
          <p:nvPr/>
        </p:nvSpPr>
        <p:spPr>
          <a:xfrm>
            <a:off x="3131104" y="4326890"/>
            <a:ext cx="5929829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defRPr/>
            </a:pPr>
            <a:r>
              <a:rPr lang="zh-CN" altLang="en-US" sz="2800" dirty="0">
                <a:solidFill>
                  <a:srgbClr val="093A9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大连理工大学文华财经生产实习答辩</a:t>
            </a:r>
          </a:p>
        </p:txBody>
      </p:sp>
    </p:spTree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334963" y="134813"/>
            <a:ext cx="2102450" cy="5482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个人简介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-1" y="0"/>
            <a:ext cx="12191999" cy="692760"/>
          </a:xfrm>
          <a:prstGeom prst="rect">
            <a:avLst/>
          </a:prstGeom>
          <a:solidFill>
            <a:srgbClr val="083996"/>
          </a:solidFill>
          <a:ln>
            <a:solidFill>
              <a:srgbClr val="093A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期货云哨兵 </a:t>
            </a:r>
            <a:r>
              <a:rPr lang="en-US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FuturesCloudSentinel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386188" y="2533688"/>
            <a:ext cx="39116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目录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918027" y="1299937"/>
            <a:ext cx="391160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01        </a:t>
            </a:r>
            <a:r>
              <a:rPr lang="zh-CN" altLang="en-US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分工介绍</a:t>
            </a:r>
            <a:endParaRPr 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02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kumimoji="0" lang="zh-CN" altLang="en-US" sz="4400" b="0" i="0" u="none" strike="noStrike" kern="1200" cap="none" spc="0" normalizeH="0" baseline="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实现效果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03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项目特点</a:t>
            </a:r>
            <a:endParaRPr lang="en-US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defRPr/>
            </a:pP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04       </a:t>
            </a:r>
            <a:r>
              <a:rPr lang="zh-CN" altLang="en-US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产品价值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5" name="直接连接符 4"/>
          <p:cNvCxnSpPr>
            <a:cxnSpLocks/>
          </p:cNvCxnSpPr>
          <p:nvPr/>
        </p:nvCxnSpPr>
        <p:spPr>
          <a:xfrm>
            <a:off x="6851504" y="2017724"/>
            <a:ext cx="2779385" cy="950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851504" y="1462905"/>
            <a:ext cx="101600" cy="43907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003904" y="1674824"/>
            <a:ext cx="101600" cy="22571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851504" y="2680974"/>
            <a:ext cx="101600" cy="43907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003904" y="2894334"/>
            <a:ext cx="101600" cy="22571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851504" y="3927331"/>
            <a:ext cx="101600" cy="43907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003904" y="4146870"/>
            <a:ext cx="101600" cy="22571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851504" y="5155781"/>
            <a:ext cx="101600" cy="43907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003904" y="5375320"/>
            <a:ext cx="101600" cy="22571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9993259-4ED7-0549-C595-B46AA72FC853}"/>
              </a:ext>
            </a:extLst>
          </p:cNvPr>
          <p:cNvCxnSpPr>
            <a:cxnSpLocks/>
          </p:cNvCxnSpPr>
          <p:nvPr/>
        </p:nvCxnSpPr>
        <p:spPr>
          <a:xfrm>
            <a:off x="6851501" y="3243522"/>
            <a:ext cx="2779385" cy="950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8854942-B828-7173-5B36-F4466F912F06}"/>
              </a:ext>
            </a:extLst>
          </p:cNvPr>
          <p:cNvCxnSpPr>
            <a:cxnSpLocks/>
          </p:cNvCxnSpPr>
          <p:nvPr/>
        </p:nvCxnSpPr>
        <p:spPr>
          <a:xfrm>
            <a:off x="6851500" y="4493064"/>
            <a:ext cx="2779385" cy="950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7D8FE9F-AC61-C91E-45AE-33B6947F0B82}"/>
              </a:ext>
            </a:extLst>
          </p:cNvPr>
          <p:cNvCxnSpPr>
            <a:cxnSpLocks/>
          </p:cNvCxnSpPr>
          <p:nvPr/>
        </p:nvCxnSpPr>
        <p:spPr>
          <a:xfrm>
            <a:off x="6851502" y="5712435"/>
            <a:ext cx="2779385" cy="950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ransition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36CF94C-F3F9-2A2A-67AA-E976D5D04DB6}"/>
              </a:ext>
            </a:extLst>
          </p:cNvPr>
          <p:cNvSpPr txBox="1"/>
          <p:nvPr/>
        </p:nvSpPr>
        <p:spPr>
          <a:xfrm>
            <a:off x="3448964" y="2956050"/>
            <a:ext cx="6812906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分工</a:t>
            </a: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CCEC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介绍</a:t>
            </a:r>
            <a:endParaRPr kumimoji="1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CCEC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5AAEC6D2-DE07-8808-A169-F623E891C67B}"/>
              </a:ext>
            </a:extLst>
          </p:cNvPr>
          <p:cNvSpPr/>
          <p:nvPr/>
        </p:nvSpPr>
        <p:spPr>
          <a:xfrm>
            <a:off x="520628" y="2564605"/>
            <a:ext cx="2057400" cy="1871663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E4B52B4-0DB4-0DBD-3465-DCAF1116807E}"/>
              </a:ext>
            </a:extLst>
          </p:cNvPr>
          <p:cNvSpPr txBox="1"/>
          <p:nvPr/>
        </p:nvSpPr>
        <p:spPr>
          <a:xfrm>
            <a:off x="942013" y="3177856"/>
            <a:ext cx="12181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93A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93A9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7009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B59580-133A-82D6-91B1-DE9667128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37773EA-A10F-53DD-E4E3-2E5A7EB88241}"/>
              </a:ext>
            </a:extLst>
          </p:cNvPr>
          <p:cNvSpPr/>
          <p:nvPr/>
        </p:nvSpPr>
        <p:spPr>
          <a:xfrm>
            <a:off x="0" y="139148"/>
            <a:ext cx="864704" cy="1133061"/>
          </a:xfrm>
          <a:prstGeom prst="rect">
            <a:avLst/>
          </a:prstGeom>
          <a:solidFill>
            <a:srgbClr val="08399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30F511-7ABA-8E97-FFFD-74E8D19B65C6}"/>
              </a:ext>
            </a:extLst>
          </p:cNvPr>
          <p:cNvSpPr/>
          <p:nvPr/>
        </p:nvSpPr>
        <p:spPr>
          <a:xfrm>
            <a:off x="964096" y="139148"/>
            <a:ext cx="210101" cy="1133061"/>
          </a:xfrm>
          <a:prstGeom prst="rect">
            <a:avLst/>
          </a:prstGeom>
          <a:solidFill>
            <a:srgbClr val="08399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F494B6-A0ED-213C-20E4-01AE24B271E3}"/>
              </a:ext>
            </a:extLst>
          </p:cNvPr>
          <p:cNvSpPr txBox="1"/>
          <p:nvPr/>
        </p:nvSpPr>
        <p:spPr>
          <a:xfrm>
            <a:off x="1273589" y="315483"/>
            <a:ext cx="5665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kern="1200" cap="none" spc="0" normalizeH="0" baseline="0" noProof="0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分工介绍</a:t>
            </a:r>
            <a:endParaRPr kumimoji="0" lang="zh-CN" altLang="en-US" sz="4400" b="1" i="0" kern="1200" cap="none" spc="0" normalizeH="0" baseline="0" noProof="0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" name="ïṡ1iḍê">
            <a:extLst>
              <a:ext uri="{FF2B5EF4-FFF2-40B4-BE49-F238E27FC236}">
                <a16:creationId xmlns:a16="http://schemas.microsoft.com/office/drawing/2014/main" id="{0E3CE09E-19D4-4A72-5D8D-18B6434E6516}"/>
              </a:ext>
            </a:extLst>
          </p:cNvPr>
          <p:cNvSpPr/>
          <p:nvPr/>
        </p:nvSpPr>
        <p:spPr>
          <a:xfrm flipV="1">
            <a:off x="9497307" y="2952891"/>
            <a:ext cx="157933" cy="157933"/>
          </a:xfrm>
          <a:prstGeom prst="ellipse">
            <a:avLst/>
          </a:prstGeom>
          <a:solidFill>
            <a:srgbClr val="0839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0" name="íṡḷiḓe">
            <a:extLst>
              <a:ext uri="{FF2B5EF4-FFF2-40B4-BE49-F238E27FC236}">
                <a16:creationId xmlns:a16="http://schemas.microsoft.com/office/drawing/2014/main" id="{61A5B79A-BDE1-7DB9-7B23-960A3C800EB5}"/>
              </a:ext>
            </a:extLst>
          </p:cNvPr>
          <p:cNvSpPr/>
          <p:nvPr/>
        </p:nvSpPr>
        <p:spPr>
          <a:xfrm flipV="1">
            <a:off x="2774247" y="2976021"/>
            <a:ext cx="157933" cy="157933"/>
          </a:xfrm>
          <a:prstGeom prst="ellipse">
            <a:avLst/>
          </a:prstGeom>
          <a:solidFill>
            <a:srgbClr val="0839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" name="i$1îḍê">
            <a:extLst>
              <a:ext uri="{FF2B5EF4-FFF2-40B4-BE49-F238E27FC236}">
                <a16:creationId xmlns:a16="http://schemas.microsoft.com/office/drawing/2014/main" id="{41798EFB-D8A7-A0C6-B892-EA54327727C4}"/>
              </a:ext>
            </a:extLst>
          </p:cNvPr>
          <p:cNvSpPr/>
          <p:nvPr/>
        </p:nvSpPr>
        <p:spPr>
          <a:xfrm flipV="1">
            <a:off x="8365402" y="4746223"/>
            <a:ext cx="157933" cy="157933"/>
          </a:xfrm>
          <a:prstGeom prst="ellipse">
            <a:avLst/>
          </a:prstGeom>
          <a:solidFill>
            <a:srgbClr val="083996"/>
          </a:solidFill>
          <a:ln>
            <a:solidFill>
              <a:srgbClr val="0839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3" name="íṡḷiḓe">
            <a:extLst>
              <a:ext uri="{FF2B5EF4-FFF2-40B4-BE49-F238E27FC236}">
                <a16:creationId xmlns:a16="http://schemas.microsoft.com/office/drawing/2014/main" id="{A9F2EEF8-A124-AE06-10B4-298FFFA3D52D}"/>
              </a:ext>
            </a:extLst>
          </p:cNvPr>
          <p:cNvSpPr/>
          <p:nvPr/>
        </p:nvSpPr>
        <p:spPr>
          <a:xfrm flipV="1">
            <a:off x="7744604" y="3777842"/>
            <a:ext cx="157933" cy="157933"/>
          </a:xfrm>
          <a:prstGeom prst="ellipse">
            <a:avLst/>
          </a:prstGeom>
          <a:solidFill>
            <a:srgbClr val="083996"/>
          </a:solidFill>
          <a:ln>
            <a:solidFill>
              <a:srgbClr val="0839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0897690-8010-F08A-D22D-68FF59BB0C6C}"/>
              </a:ext>
            </a:extLst>
          </p:cNvPr>
          <p:cNvCxnSpPr>
            <a:cxnSpLocks/>
            <a:stCxn id="40" idx="6"/>
            <a:endCxn id="39" idx="2"/>
          </p:cNvCxnSpPr>
          <p:nvPr/>
        </p:nvCxnSpPr>
        <p:spPr>
          <a:xfrm flipV="1">
            <a:off x="2932180" y="3031857"/>
            <a:ext cx="6565127" cy="23130"/>
          </a:xfrm>
          <a:prstGeom prst="straightConnector1">
            <a:avLst/>
          </a:prstGeom>
          <a:ln w="38100" cmpd="sng">
            <a:solidFill>
              <a:srgbClr val="083996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37978C66-8678-B2BB-82AB-7C47C246602F}"/>
              </a:ext>
            </a:extLst>
          </p:cNvPr>
          <p:cNvCxnSpPr>
            <a:cxnSpLocks/>
            <a:stCxn id="7" idx="2"/>
            <a:endCxn id="43" idx="2"/>
          </p:cNvCxnSpPr>
          <p:nvPr/>
        </p:nvCxnSpPr>
        <p:spPr>
          <a:xfrm>
            <a:off x="3454192" y="3856808"/>
            <a:ext cx="4290412" cy="0"/>
          </a:xfrm>
          <a:prstGeom prst="straightConnector1">
            <a:avLst/>
          </a:prstGeom>
          <a:ln w="38100" cmpd="sng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069B00E8-FAC3-1292-400D-20997B73BC0C}"/>
              </a:ext>
            </a:extLst>
          </p:cNvPr>
          <p:cNvCxnSpPr>
            <a:cxnSpLocks/>
            <a:stCxn id="24" idx="6"/>
            <a:endCxn id="41" idx="2"/>
          </p:cNvCxnSpPr>
          <p:nvPr/>
        </p:nvCxnSpPr>
        <p:spPr>
          <a:xfrm>
            <a:off x="2932179" y="4825189"/>
            <a:ext cx="5433223" cy="0"/>
          </a:xfrm>
          <a:prstGeom prst="straightConnector1">
            <a:avLst/>
          </a:prstGeom>
          <a:ln w="38100" cmpd="sng">
            <a:solidFill>
              <a:srgbClr val="00B05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751001E3-2564-CEA2-F3D1-FC869EB883AF}"/>
              </a:ext>
            </a:extLst>
          </p:cNvPr>
          <p:cNvSpPr txBox="1"/>
          <p:nvPr/>
        </p:nvSpPr>
        <p:spPr>
          <a:xfrm>
            <a:off x="2964504" y="2643043"/>
            <a:ext cx="65004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李骁纯：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实现通信协议、客户端业务逻辑实现、答辩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PPT 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制作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7" name="ïṡ1iḍê">
            <a:extLst>
              <a:ext uri="{FF2B5EF4-FFF2-40B4-BE49-F238E27FC236}">
                <a16:creationId xmlns:a16="http://schemas.microsoft.com/office/drawing/2014/main" id="{4404D8FF-197B-E141-58CE-C06F9E5A27C6}"/>
              </a:ext>
            </a:extLst>
          </p:cNvPr>
          <p:cNvSpPr/>
          <p:nvPr/>
        </p:nvSpPr>
        <p:spPr>
          <a:xfrm flipV="1">
            <a:off x="3454192" y="3777842"/>
            <a:ext cx="157933" cy="157933"/>
          </a:xfrm>
          <a:prstGeom prst="ellipse">
            <a:avLst/>
          </a:prstGeom>
          <a:solidFill>
            <a:srgbClr val="083996"/>
          </a:solidFill>
          <a:ln>
            <a:solidFill>
              <a:srgbClr val="0839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E1E9CD7-11C0-E694-195F-9A1313571185}"/>
              </a:ext>
            </a:extLst>
          </p:cNvPr>
          <p:cNvCxnSpPr>
            <a:cxnSpLocks/>
            <a:stCxn id="40" idx="7"/>
            <a:endCxn id="7" idx="3"/>
          </p:cNvCxnSpPr>
          <p:nvPr/>
        </p:nvCxnSpPr>
        <p:spPr>
          <a:xfrm>
            <a:off x="2909051" y="3110825"/>
            <a:ext cx="568270" cy="690146"/>
          </a:xfrm>
          <a:prstGeom prst="straightConnector1">
            <a:avLst/>
          </a:prstGeom>
          <a:ln w="38100" cmpd="sng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CE06AF7-C8F7-EDE7-22C8-BA5A679457B1}"/>
              </a:ext>
            </a:extLst>
          </p:cNvPr>
          <p:cNvSpPr txBox="1"/>
          <p:nvPr/>
        </p:nvSpPr>
        <p:spPr>
          <a:xfrm>
            <a:off x="3564671" y="3479826"/>
            <a:ext cx="40694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魏新帮：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客户端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UI 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实现、前后端桥接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1C7629C-E917-A63F-A6E1-43B1684B71BC}"/>
              </a:ext>
            </a:extLst>
          </p:cNvPr>
          <p:cNvCxnSpPr>
            <a:cxnSpLocks/>
            <a:stCxn id="43" idx="5"/>
            <a:endCxn id="21" idx="1"/>
          </p:cNvCxnSpPr>
          <p:nvPr/>
        </p:nvCxnSpPr>
        <p:spPr>
          <a:xfrm flipV="1">
            <a:off x="7879408" y="3110824"/>
            <a:ext cx="532252" cy="690147"/>
          </a:xfrm>
          <a:prstGeom prst="straightConnector1">
            <a:avLst/>
          </a:prstGeom>
          <a:ln w="38100" cmpd="sng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íṡḷiḓe">
            <a:extLst>
              <a:ext uri="{FF2B5EF4-FFF2-40B4-BE49-F238E27FC236}">
                <a16:creationId xmlns:a16="http://schemas.microsoft.com/office/drawing/2014/main" id="{AF072D87-7A55-AADA-9A02-646612D520B0}"/>
              </a:ext>
            </a:extLst>
          </p:cNvPr>
          <p:cNvSpPr/>
          <p:nvPr/>
        </p:nvSpPr>
        <p:spPr>
          <a:xfrm flipV="1">
            <a:off x="8388531" y="2976020"/>
            <a:ext cx="157933" cy="157933"/>
          </a:xfrm>
          <a:prstGeom prst="ellipse">
            <a:avLst/>
          </a:prstGeom>
          <a:solidFill>
            <a:srgbClr val="0839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" name="ïṡ1iḍê">
            <a:extLst>
              <a:ext uri="{FF2B5EF4-FFF2-40B4-BE49-F238E27FC236}">
                <a16:creationId xmlns:a16="http://schemas.microsoft.com/office/drawing/2014/main" id="{8F57FD1E-9430-F686-1CFE-A7FFE25D394D}"/>
              </a:ext>
            </a:extLst>
          </p:cNvPr>
          <p:cNvSpPr/>
          <p:nvPr/>
        </p:nvSpPr>
        <p:spPr>
          <a:xfrm flipV="1">
            <a:off x="2774246" y="4746223"/>
            <a:ext cx="157933" cy="157933"/>
          </a:xfrm>
          <a:prstGeom prst="ellipse">
            <a:avLst/>
          </a:prstGeom>
          <a:solidFill>
            <a:srgbClr val="083996"/>
          </a:solidFill>
          <a:ln>
            <a:solidFill>
              <a:srgbClr val="0839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FCDA747-6025-BB21-DAEB-A0154901291B}"/>
              </a:ext>
            </a:extLst>
          </p:cNvPr>
          <p:cNvSpPr txBox="1"/>
          <p:nvPr/>
        </p:nvSpPr>
        <p:spPr>
          <a:xfrm>
            <a:off x="3315912" y="4474847"/>
            <a:ext cx="4665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邓坤：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服务器业务逻辑整合，数据库实现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8" name="i$1îḍê">
            <a:extLst>
              <a:ext uri="{FF2B5EF4-FFF2-40B4-BE49-F238E27FC236}">
                <a16:creationId xmlns:a16="http://schemas.microsoft.com/office/drawing/2014/main" id="{AC7E2B8E-8E7D-B28F-83C2-476166FAB790}"/>
              </a:ext>
            </a:extLst>
          </p:cNvPr>
          <p:cNvSpPr/>
          <p:nvPr/>
        </p:nvSpPr>
        <p:spPr>
          <a:xfrm flipV="1">
            <a:off x="7499321" y="5721630"/>
            <a:ext cx="157933" cy="157933"/>
          </a:xfrm>
          <a:prstGeom prst="ellipse">
            <a:avLst/>
          </a:prstGeom>
          <a:solidFill>
            <a:srgbClr val="083996"/>
          </a:solidFill>
          <a:ln>
            <a:solidFill>
              <a:srgbClr val="0839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68F0205-1AE6-CF42-DA0C-09C367F8BBE2}"/>
              </a:ext>
            </a:extLst>
          </p:cNvPr>
          <p:cNvCxnSpPr>
            <a:cxnSpLocks/>
            <a:stCxn id="56" idx="6"/>
            <a:endCxn id="38" idx="2"/>
          </p:cNvCxnSpPr>
          <p:nvPr/>
        </p:nvCxnSpPr>
        <p:spPr>
          <a:xfrm flipV="1">
            <a:off x="4074033" y="5800596"/>
            <a:ext cx="3425288" cy="1"/>
          </a:xfrm>
          <a:prstGeom prst="straightConnector1">
            <a:avLst/>
          </a:prstGeom>
          <a:ln w="38100" cmpd="sng">
            <a:solidFill>
              <a:srgbClr val="7030A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ïṡ1iḍê">
            <a:extLst>
              <a:ext uri="{FF2B5EF4-FFF2-40B4-BE49-F238E27FC236}">
                <a16:creationId xmlns:a16="http://schemas.microsoft.com/office/drawing/2014/main" id="{2CE24115-6552-48D2-8C35-2117922BA9AB}"/>
              </a:ext>
            </a:extLst>
          </p:cNvPr>
          <p:cNvSpPr/>
          <p:nvPr/>
        </p:nvSpPr>
        <p:spPr>
          <a:xfrm flipV="1">
            <a:off x="3916100" y="5721631"/>
            <a:ext cx="157933" cy="157933"/>
          </a:xfrm>
          <a:prstGeom prst="ellipse">
            <a:avLst/>
          </a:prstGeom>
          <a:solidFill>
            <a:srgbClr val="083996"/>
          </a:solidFill>
          <a:ln>
            <a:solidFill>
              <a:srgbClr val="0839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2C78891-F7EF-4B06-A6DB-D190A7C6E605}"/>
              </a:ext>
            </a:extLst>
          </p:cNvPr>
          <p:cNvSpPr txBox="1"/>
          <p:nvPr/>
        </p:nvSpPr>
        <p:spPr>
          <a:xfrm>
            <a:off x="4074033" y="5414029"/>
            <a:ext cx="326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张晓文：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服务器行情判断实现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61" name="i$1îḍê">
            <a:extLst>
              <a:ext uri="{FF2B5EF4-FFF2-40B4-BE49-F238E27FC236}">
                <a16:creationId xmlns:a16="http://schemas.microsoft.com/office/drawing/2014/main" id="{7E4248F9-F362-3BF3-4CA4-E722DA985E77}"/>
              </a:ext>
            </a:extLst>
          </p:cNvPr>
          <p:cNvSpPr/>
          <p:nvPr/>
        </p:nvSpPr>
        <p:spPr>
          <a:xfrm flipV="1">
            <a:off x="7499321" y="6384583"/>
            <a:ext cx="157933" cy="157933"/>
          </a:xfrm>
          <a:prstGeom prst="ellipse">
            <a:avLst/>
          </a:prstGeom>
          <a:solidFill>
            <a:srgbClr val="083996"/>
          </a:solidFill>
          <a:ln>
            <a:solidFill>
              <a:srgbClr val="0839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3B8938F9-525F-17D6-AEB4-CD8BB4DC3E95}"/>
              </a:ext>
            </a:extLst>
          </p:cNvPr>
          <p:cNvCxnSpPr>
            <a:cxnSpLocks/>
            <a:stCxn id="63" idx="6"/>
            <a:endCxn id="61" idx="2"/>
          </p:cNvCxnSpPr>
          <p:nvPr/>
        </p:nvCxnSpPr>
        <p:spPr>
          <a:xfrm flipV="1">
            <a:off x="4074033" y="6463549"/>
            <a:ext cx="3425288" cy="1"/>
          </a:xfrm>
          <a:prstGeom prst="straightConnector1">
            <a:avLst/>
          </a:prstGeom>
          <a:ln w="38100" cmpd="sng">
            <a:solidFill>
              <a:srgbClr val="FF66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ïṡ1iḍê">
            <a:extLst>
              <a:ext uri="{FF2B5EF4-FFF2-40B4-BE49-F238E27FC236}">
                <a16:creationId xmlns:a16="http://schemas.microsoft.com/office/drawing/2014/main" id="{DDB4A03A-CC51-5FC2-1931-3360DB59E47A}"/>
              </a:ext>
            </a:extLst>
          </p:cNvPr>
          <p:cNvSpPr/>
          <p:nvPr/>
        </p:nvSpPr>
        <p:spPr>
          <a:xfrm flipV="1">
            <a:off x="3916100" y="6384584"/>
            <a:ext cx="157933" cy="157933"/>
          </a:xfrm>
          <a:prstGeom prst="ellipse">
            <a:avLst/>
          </a:prstGeom>
          <a:solidFill>
            <a:srgbClr val="083996"/>
          </a:solidFill>
          <a:ln>
            <a:solidFill>
              <a:srgbClr val="0839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7B13C917-F336-B562-CE83-B0D6DFC099A2}"/>
              </a:ext>
            </a:extLst>
          </p:cNvPr>
          <p:cNvSpPr txBox="1"/>
          <p:nvPr/>
        </p:nvSpPr>
        <p:spPr>
          <a:xfrm>
            <a:off x="4074033" y="6076982"/>
            <a:ext cx="326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郭润茗：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服务器邮件收发实现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289348C4-80D9-B963-5EEC-B197732D637B}"/>
              </a:ext>
            </a:extLst>
          </p:cNvPr>
          <p:cNvCxnSpPr>
            <a:cxnSpLocks/>
            <a:stCxn id="24" idx="7"/>
            <a:endCxn id="56" idx="3"/>
          </p:cNvCxnSpPr>
          <p:nvPr/>
        </p:nvCxnSpPr>
        <p:spPr>
          <a:xfrm>
            <a:off x="2909050" y="4881027"/>
            <a:ext cx="1030179" cy="863733"/>
          </a:xfrm>
          <a:prstGeom prst="straightConnector1">
            <a:avLst/>
          </a:prstGeom>
          <a:ln w="38100" cmpd="sng">
            <a:solidFill>
              <a:srgbClr val="7030A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71CAB2AA-FF4E-EAED-1FAD-7C5D5713BAA8}"/>
              </a:ext>
            </a:extLst>
          </p:cNvPr>
          <p:cNvCxnSpPr>
            <a:cxnSpLocks/>
            <a:stCxn id="24" idx="0"/>
            <a:endCxn id="63" idx="3"/>
          </p:cNvCxnSpPr>
          <p:nvPr/>
        </p:nvCxnSpPr>
        <p:spPr>
          <a:xfrm>
            <a:off x="2853213" y="4904156"/>
            <a:ext cx="1086016" cy="1503557"/>
          </a:xfrm>
          <a:prstGeom prst="straightConnector1">
            <a:avLst/>
          </a:prstGeom>
          <a:ln w="38100" cmpd="sng">
            <a:solidFill>
              <a:srgbClr val="FF66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44A8254E-BFD8-0428-7E9C-C40ED0980A3C}"/>
              </a:ext>
            </a:extLst>
          </p:cNvPr>
          <p:cNvCxnSpPr>
            <a:cxnSpLocks/>
            <a:stCxn id="38" idx="5"/>
            <a:endCxn id="41" idx="1"/>
          </p:cNvCxnSpPr>
          <p:nvPr/>
        </p:nvCxnSpPr>
        <p:spPr>
          <a:xfrm flipV="1">
            <a:off x="7634125" y="4881027"/>
            <a:ext cx="754406" cy="863732"/>
          </a:xfrm>
          <a:prstGeom prst="straightConnector1">
            <a:avLst/>
          </a:prstGeom>
          <a:ln w="38100" cmpd="sng">
            <a:solidFill>
              <a:srgbClr val="7030A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609966A6-F366-7ECF-7044-E80C449DB3F9}"/>
              </a:ext>
            </a:extLst>
          </p:cNvPr>
          <p:cNvCxnSpPr>
            <a:cxnSpLocks/>
            <a:stCxn id="61" idx="5"/>
            <a:endCxn id="41" idx="1"/>
          </p:cNvCxnSpPr>
          <p:nvPr/>
        </p:nvCxnSpPr>
        <p:spPr>
          <a:xfrm flipV="1">
            <a:off x="7634125" y="4881027"/>
            <a:ext cx="754406" cy="1526685"/>
          </a:xfrm>
          <a:prstGeom prst="straightConnector1">
            <a:avLst/>
          </a:prstGeom>
          <a:ln w="38100" cmpd="sng">
            <a:solidFill>
              <a:srgbClr val="FF66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1397D85F-9588-2A08-2806-5CD299B4A8BC}"/>
              </a:ext>
            </a:extLst>
          </p:cNvPr>
          <p:cNvCxnSpPr>
            <a:cxnSpLocks/>
            <a:stCxn id="41" idx="5"/>
            <a:endCxn id="39" idx="1"/>
          </p:cNvCxnSpPr>
          <p:nvPr/>
        </p:nvCxnSpPr>
        <p:spPr>
          <a:xfrm flipV="1">
            <a:off x="8500206" y="3087695"/>
            <a:ext cx="1020230" cy="1681657"/>
          </a:xfrm>
          <a:prstGeom prst="straightConnector1">
            <a:avLst/>
          </a:prstGeom>
          <a:ln w="38100" cmpd="sng">
            <a:solidFill>
              <a:srgbClr val="00B05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A0222DC1-A744-7CB1-58E9-BAB902BDEC7D}"/>
              </a:ext>
            </a:extLst>
          </p:cNvPr>
          <p:cNvSpPr txBox="1"/>
          <p:nvPr/>
        </p:nvSpPr>
        <p:spPr>
          <a:xfrm>
            <a:off x="565897" y="1472724"/>
            <a:ext cx="110602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开发</a:t>
            </a:r>
            <a:r>
              <a:rPr lang="zh-CN" altLang="en-US" sz="28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全程使用 </a:t>
            </a:r>
            <a:r>
              <a:rPr lang="en-US" altLang="zh-CN" sz="28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GitHub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进行维护，</a:t>
            </a:r>
            <a:r>
              <a:rPr lang="zh-CN" altLang="en-US" sz="28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使用 </a:t>
            </a:r>
            <a:r>
              <a:rPr lang="en-US" altLang="zh-CN" sz="28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GitHub Actions </a:t>
            </a:r>
            <a:r>
              <a:rPr lang="zh-CN" altLang="en-US" sz="28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实现 </a:t>
            </a:r>
            <a:r>
              <a:rPr lang="en-US" altLang="zh-CN" sz="28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CI/CD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，在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Gogs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同步镜像，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实现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分工协作与</a:t>
            </a:r>
            <a:r>
              <a:rPr lang="zh-CN" altLang="en-US" sz="28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高效自动化部署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cs typeface="华文行楷" panose="02010800040101010101" charset="-122"/>
                <a:sym typeface="+mn-ea"/>
              </a:rPr>
              <a:t>。</a:t>
            </a:r>
            <a:endParaRPr lang="zh-CN" altLang="en-US" sz="2800" b="1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8437470"/>
      </p:ext>
    </p:extLst>
  </p:cSld>
  <p:clrMapOvr>
    <a:masterClrMapping/>
  </p:clrMapOvr>
  <p:transition>
    <p:split orient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DEC8542-6CCF-DA8F-B6E7-C75A1D5994FE}"/>
              </a:ext>
            </a:extLst>
          </p:cNvPr>
          <p:cNvSpPr txBox="1"/>
          <p:nvPr/>
        </p:nvSpPr>
        <p:spPr>
          <a:xfrm>
            <a:off x="3448964" y="2956050"/>
            <a:ext cx="6812906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实现</a:t>
            </a:r>
            <a:r>
              <a:rPr lang="zh-CN" altLang="en-US" sz="6600" b="1" dirty="0">
                <a:solidFill>
                  <a:srgbClr val="CCEC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效果</a:t>
            </a:r>
          </a:p>
        </p:txBody>
      </p:sp>
      <p:sp>
        <p:nvSpPr>
          <p:cNvPr id="5" name="菱形 4">
            <a:extLst>
              <a:ext uri="{FF2B5EF4-FFF2-40B4-BE49-F238E27FC236}">
                <a16:creationId xmlns:a16="http://schemas.microsoft.com/office/drawing/2014/main" id="{FBF4D07C-8A8C-494E-EFDB-09FB700DA789}"/>
              </a:ext>
            </a:extLst>
          </p:cNvPr>
          <p:cNvSpPr/>
          <p:nvPr/>
        </p:nvSpPr>
        <p:spPr>
          <a:xfrm>
            <a:off x="520628" y="2564605"/>
            <a:ext cx="2057400" cy="1871663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E598FD-329F-02F8-E187-D581D5441CCA}"/>
              </a:ext>
            </a:extLst>
          </p:cNvPr>
          <p:cNvSpPr txBox="1"/>
          <p:nvPr/>
        </p:nvSpPr>
        <p:spPr>
          <a:xfrm>
            <a:off x="932811" y="3177272"/>
            <a:ext cx="12396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93A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93A9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7255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矩形 82"/>
          <p:cNvSpPr/>
          <p:nvPr/>
        </p:nvSpPr>
        <p:spPr>
          <a:xfrm>
            <a:off x="0" y="139148"/>
            <a:ext cx="864704" cy="1133061"/>
          </a:xfrm>
          <a:prstGeom prst="rect">
            <a:avLst/>
          </a:prstGeom>
          <a:solidFill>
            <a:srgbClr val="08399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96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2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64096" y="139148"/>
            <a:ext cx="210101" cy="1133061"/>
          </a:xfrm>
          <a:prstGeom prst="rect">
            <a:avLst/>
          </a:prstGeom>
          <a:solidFill>
            <a:srgbClr val="08399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273589" y="315483"/>
            <a:ext cx="5665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实现效果</a:t>
            </a:r>
            <a:endParaRPr kumimoji="0" lang="zh-CN" altLang="en-US" sz="4400" b="1" i="0" kern="1200" cap="none" spc="0" normalizeH="0" baseline="0" noProof="0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235AF8-EFAD-69D9-0A46-DC44C11A1E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370" y="97548"/>
            <a:ext cx="4230815" cy="333145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F3FDCC6-6E1A-FABE-D942-A541916DF4A0}"/>
              </a:ext>
            </a:extLst>
          </p:cNvPr>
          <p:cNvSpPr txBox="1"/>
          <p:nvPr/>
        </p:nvSpPr>
        <p:spPr>
          <a:xfrm>
            <a:off x="128287" y="1584657"/>
            <a:ext cx="1709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客户端：</a:t>
            </a:r>
            <a:endParaRPr lang="en-US" altLang="zh-CN" sz="2800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690F68-070D-CB8A-8369-4562E8F4CD16}"/>
              </a:ext>
            </a:extLst>
          </p:cNvPr>
          <p:cNvSpPr txBox="1"/>
          <p:nvPr/>
        </p:nvSpPr>
        <p:spPr>
          <a:xfrm>
            <a:off x="128287" y="2108575"/>
            <a:ext cx="33550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图形化用户界面</a:t>
            </a:r>
            <a:r>
              <a:rPr lang="zh-CN" altLang="en-US" sz="2800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800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Qt6</a:t>
            </a:r>
            <a:r>
              <a:rPr lang="zh-CN" altLang="en-US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开发</a:t>
            </a:r>
            <a:r>
              <a:rPr lang="en-US" altLang="zh-CN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UI</a:t>
            </a:r>
            <a:r>
              <a:rPr lang="zh-CN" altLang="en-US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，实现了用户友好的操作界面</a:t>
            </a:r>
            <a:endParaRPr lang="zh-CN" altLang="zh-CN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C4022D9-AA2A-0B5F-20A3-2534023B0073}"/>
              </a:ext>
            </a:extLst>
          </p:cNvPr>
          <p:cNvSpPr txBox="1"/>
          <p:nvPr/>
        </p:nvSpPr>
        <p:spPr>
          <a:xfrm>
            <a:off x="109228" y="3778114"/>
            <a:ext cx="356856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双通道通信：</a:t>
            </a:r>
            <a:endParaRPr lang="en-US" altLang="zh-CN" sz="2400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业务通道使用 </a:t>
            </a:r>
            <a:r>
              <a:rPr lang="en-US" altLang="zh-CN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Boost </a:t>
            </a:r>
            <a:r>
              <a:rPr lang="zh-CN" altLang="en-US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连接自家服务器，进行登录和预警单管理。行情通道使用 </a:t>
            </a:r>
            <a:r>
              <a:rPr lang="en-US" altLang="zh-CN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CTP API </a:t>
            </a:r>
            <a:r>
              <a:rPr lang="zh-CN" altLang="en-US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直连期货公司前置机，确保界面行情的实时性，不经服务器中转。</a:t>
            </a:r>
            <a:endParaRPr lang="zh-CN" altLang="zh-CN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128C37C-8659-007D-179A-98D2F67902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1185" y="97548"/>
            <a:ext cx="4230815" cy="333145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E8993E56-A75E-6462-FF70-314653E69F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8"/>
          <a:stretch>
            <a:fillRect/>
          </a:stretch>
        </p:blipFill>
        <p:spPr>
          <a:xfrm>
            <a:off x="7961185" y="3424749"/>
            <a:ext cx="4230814" cy="3331451"/>
          </a:xfrm>
          <a:prstGeom prst="rect">
            <a:avLst/>
          </a:prstGeom>
        </p:spPr>
      </p:pic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A600722-5D38-ABEF-E14E-0CB9AE2F2728}"/>
              </a:ext>
            </a:extLst>
          </p:cNvPr>
          <p:cNvCxnSpPr>
            <a:cxnSpLocks/>
          </p:cNvCxnSpPr>
          <p:nvPr/>
        </p:nvCxnSpPr>
        <p:spPr>
          <a:xfrm>
            <a:off x="211601" y="3431315"/>
            <a:ext cx="3363825" cy="0"/>
          </a:xfrm>
          <a:prstGeom prst="line">
            <a:avLst/>
          </a:prstGeom>
          <a:ln w="19050">
            <a:solidFill>
              <a:srgbClr val="0839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C0C5931A-0EE3-B0FD-F931-F74FF08338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371" y="3426776"/>
            <a:ext cx="4230816" cy="3331451"/>
          </a:xfrm>
          <a:prstGeom prst="rect">
            <a:avLst/>
          </a:prstGeom>
        </p:spPr>
      </p:pic>
    </p:spTree>
  </p:cSld>
  <p:clrMapOvr>
    <a:masterClrMapping/>
  </p:clrMapOvr>
  <p:transition>
    <p:split orient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矩形 82"/>
          <p:cNvSpPr/>
          <p:nvPr/>
        </p:nvSpPr>
        <p:spPr>
          <a:xfrm>
            <a:off x="0" y="139148"/>
            <a:ext cx="864704" cy="1133061"/>
          </a:xfrm>
          <a:prstGeom prst="rect">
            <a:avLst/>
          </a:prstGeom>
          <a:solidFill>
            <a:srgbClr val="08399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96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2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64096" y="139148"/>
            <a:ext cx="210101" cy="1133061"/>
          </a:xfrm>
          <a:prstGeom prst="rect">
            <a:avLst/>
          </a:prstGeom>
          <a:solidFill>
            <a:srgbClr val="08399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273589" y="315483"/>
            <a:ext cx="5665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4400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实现效果</a:t>
            </a:r>
            <a:endParaRPr lang="zh-CN" altLang="en-US" sz="4400" b="1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D2EFD8-EB25-BCB4-0B51-87052C2E75EF}"/>
              </a:ext>
            </a:extLst>
          </p:cNvPr>
          <p:cNvSpPr txBox="1"/>
          <p:nvPr/>
        </p:nvSpPr>
        <p:spPr>
          <a:xfrm>
            <a:off x="450764" y="3834561"/>
            <a:ext cx="32587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服务器、数据库：</a:t>
            </a:r>
            <a:endParaRPr lang="en-US" altLang="zh-CN" sz="2800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FDF491-2A4B-02EA-0B8E-B5A5404BBA79}"/>
              </a:ext>
            </a:extLst>
          </p:cNvPr>
          <p:cNvCxnSpPr>
            <a:cxnSpLocks/>
          </p:cNvCxnSpPr>
          <p:nvPr/>
        </p:nvCxnSpPr>
        <p:spPr>
          <a:xfrm>
            <a:off x="3807653" y="4477461"/>
            <a:ext cx="0" cy="2000634"/>
          </a:xfrm>
          <a:prstGeom prst="line">
            <a:avLst/>
          </a:prstGeom>
          <a:ln w="19050">
            <a:solidFill>
              <a:srgbClr val="0839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EA5FD17-58CB-BD9F-81AE-57FE1C7BAE18}"/>
              </a:ext>
            </a:extLst>
          </p:cNvPr>
          <p:cNvCxnSpPr>
            <a:cxnSpLocks/>
          </p:cNvCxnSpPr>
          <p:nvPr/>
        </p:nvCxnSpPr>
        <p:spPr>
          <a:xfrm>
            <a:off x="7687208" y="4477461"/>
            <a:ext cx="0" cy="2000634"/>
          </a:xfrm>
          <a:prstGeom prst="line">
            <a:avLst/>
          </a:prstGeom>
          <a:ln w="19050">
            <a:solidFill>
              <a:srgbClr val="0839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E3DB97D9-3C42-BCCF-F7F8-C77BF29DEC11}"/>
              </a:ext>
            </a:extLst>
          </p:cNvPr>
          <p:cNvSpPr txBox="1"/>
          <p:nvPr/>
        </p:nvSpPr>
        <p:spPr>
          <a:xfrm>
            <a:off x="469174" y="4412110"/>
            <a:ext cx="333847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并发处理</a:t>
            </a:r>
            <a:r>
              <a:rPr lang="zh-CN" altLang="en-US" sz="1800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1800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主线程监听连接端口并派发给线程池处理。工作线程池处理短连接业务请求。用户守护线程在行情变动时轮询未触发预警单。</a:t>
            </a:r>
            <a:endParaRPr lang="zh-CN" altLang="zh-CN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FEE81D-7B63-1460-48BD-471025E6DEEE}"/>
              </a:ext>
            </a:extLst>
          </p:cNvPr>
          <p:cNvSpPr txBox="1"/>
          <p:nvPr/>
        </p:nvSpPr>
        <p:spPr>
          <a:xfrm>
            <a:off x="3918119" y="4412110"/>
            <a:ext cx="37875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行情服务：</a:t>
            </a:r>
            <a:endParaRPr lang="en-US" altLang="zh-CN" sz="2400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集成 </a:t>
            </a:r>
            <a:r>
              <a:rPr lang="en-US" altLang="zh-CN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CTP API </a:t>
            </a:r>
            <a:r>
              <a:rPr lang="zh-CN" altLang="en-US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，加载所有用户关注的合约列表进行订阅，实时维护市场价格。</a:t>
            </a:r>
            <a:endParaRPr lang="zh-CN" altLang="zh-CN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D818A2-47C2-5EF9-3D27-6BAB25ECDF93}"/>
              </a:ext>
            </a:extLst>
          </p:cNvPr>
          <p:cNvSpPr txBox="1"/>
          <p:nvPr/>
        </p:nvSpPr>
        <p:spPr>
          <a:xfrm>
            <a:off x="3918119" y="5643216"/>
            <a:ext cx="3787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通知机制：</a:t>
            </a:r>
            <a:endParaRPr lang="en-US" altLang="zh-CN" sz="2400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采用</a:t>
            </a:r>
            <a:r>
              <a:rPr lang="en-US" altLang="zh-CN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TCP </a:t>
            </a:r>
            <a:r>
              <a:rPr lang="zh-CN" altLang="en-US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推送，报警触发时向客户端发送 </a:t>
            </a:r>
            <a:r>
              <a:rPr lang="en-US" altLang="zh-CN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JSON </a:t>
            </a:r>
            <a:r>
              <a:rPr lang="zh-CN" altLang="en-US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报文。</a:t>
            </a:r>
            <a:endParaRPr lang="zh-CN" altLang="zh-CN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2D06AFC-9996-AF29-E512-CC446D943547}"/>
              </a:ext>
            </a:extLst>
          </p:cNvPr>
          <p:cNvSpPr txBox="1"/>
          <p:nvPr/>
        </p:nvSpPr>
        <p:spPr>
          <a:xfrm>
            <a:off x="7705619" y="4412110"/>
            <a:ext cx="41017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邮件推送</a:t>
            </a:r>
            <a:r>
              <a:rPr lang="en-US" altLang="zh-CN" sz="2400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:</a:t>
            </a:r>
          </a:p>
          <a:p>
            <a:r>
              <a:rPr lang="zh-CN" altLang="en-US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集成 </a:t>
            </a:r>
            <a:r>
              <a:rPr lang="en-US" altLang="zh-CN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SMTP </a:t>
            </a:r>
            <a:r>
              <a:rPr lang="zh-CN" altLang="en-US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协议，支持通过邮件服务商发送报警邮件。</a:t>
            </a:r>
            <a:endParaRPr lang="zh-CN" altLang="zh-CN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4A7CD6-638B-8209-F7D6-F7DFEE893683}"/>
              </a:ext>
            </a:extLst>
          </p:cNvPr>
          <p:cNvSpPr txBox="1"/>
          <p:nvPr/>
        </p:nvSpPr>
        <p:spPr>
          <a:xfrm>
            <a:off x="7705618" y="5535495"/>
            <a:ext cx="41017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数据库：</a:t>
            </a:r>
            <a:endParaRPr lang="en-US" altLang="zh-CN" sz="2400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采用 </a:t>
            </a:r>
            <a:r>
              <a:rPr lang="en-US" altLang="zh-CN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MySQL 8.0 </a:t>
            </a:r>
            <a:r>
              <a:rPr lang="zh-CN" altLang="en-US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持久化存储，用户表存储账号体系，预警单表存储核心业务。</a:t>
            </a:r>
            <a:endParaRPr lang="en-US" altLang="zh-CN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36DE1AB-DBA9-4A9E-D81D-03304CC8D3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3" b="62058"/>
          <a:stretch>
            <a:fillRect/>
          </a:stretch>
        </p:blipFill>
        <p:spPr>
          <a:xfrm>
            <a:off x="3789807" y="199121"/>
            <a:ext cx="3089672" cy="192699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57251A3-4D76-C899-253B-9AFA4BB221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9479" y="196030"/>
            <a:ext cx="5144218" cy="400105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F45314C-F1D1-6FDF-C3F0-58BC98FAA9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8120" y="1797220"/>
            <a:ext cx="2961360" cy="229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1030"/>
      </p:ext>
    </p:extLst>
  </p:cSld>
  <p:clrMapOvr>
    <a:masterClrMapping/>
  </p:clrMapOvr>
  <p:transition>
    <p:split orient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CA60213-B185-92D8-A521-83D01604D28A}"/>
              </a:ext>
            </a:extLst>
          </p:cNvPr>
          <p:cNvSpPr txBox="1"/>
          <p:nvPr/>
        </p:nvSpPr>
        <p:spPr>
          <a:xfrm>
            <a:off x="3448964" y="2956050"/>
            <a:ext cx="6812906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项目</a:t>
            </a:r>
            <a:r>
              <a:rPr lang="zh-CN" altLang="en-US" sz="6600" b="1" dirty="0">
                <a:solidFill>
                  <a:srgbClr val="CCEC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特点</a:t>
            </a:r>
          </a:p>
        </p:txBody>
      </p:sp>
      <p:sp>
        <p:nvSpPr>
          <p:cNvPr id="5" name="菱形 4">
            <a:extLst>
              <a:ext uri="{FF2B5EF4-FFF2-40B4-BE49-F238E27FC236}">
                <a16:creationId xmlns:a16="http://schemas.microsoft.com/office/drawing/2014/main" id="{66662D05-B039-565A-2F5B-E7A4E5D7E075}"/>
              </a:ext>
            </a:extLst>
          </p:cNvPr>
          <p:cNvSpPr/>
          <p:nvPr/>
        </p:nvSpPr>
        <p:spPr>
          <a:xfrm>
            <a:off x="520628" y="2564605"/>
            <a:ext cx="2057400" cy="1871663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61B2E7-804A-B1DB-5887-C37AACE58811}"/>
              </a:ext>
            </a:extLst>
          </p:cNvPr>
          <p:cNvSpPr txBox="1"/>
          <p:nvPr/>
        </p:nvSpPr>
        <p:spPr>
          <a:xfrm>
            <a:off x="961001" y="3177272"/>
            <a:ext cx="121146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93A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93A9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48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矩形 82"/>
          <p:cNvSpPr/>
          <p:nvPr/>
        </p:nvSpPr>
        <p:spPr>
          <a:xfrm>
            <a:off x="0" y="139148"/>
            <a:ext cx="864704" cy="1133061"/>
          </a:xfrm>
          <a:prstGeom prst="rect">
            <a:avLst/>
          </a:prstGeom>
          <a:solidFill>
            <a:srgbClr val="08399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64096" y="139148"/>
            <a:ext cx="210101" cy="1133061"/>
          </a:xfrm>
          <a:prstGeom prst="rect">
            <a:avLst/>
          </a:prstGeom>
          <a:solidFill>
            <a:srgbClr val="08399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273589" y="315483"/>
            <a:ext cx="5665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kern="1200" cap="none" spc="0" normalizeH="0" baseline="0" noProof="0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项目</a:t>
            </a:r>
            <a:r>
              <a:rPr lang="zh-CN" altLang="en-US" sz="4400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特点</a:t>
            </a:r>
            <a:endParaRPr kumimoji="0" lang="zh-CN" altLang="en-US" sz="4400" b="1" i="0" kern="1200" cap="none" spc="0" normalizeH="0" baseline="0" noProof="0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72C6F7-F75A-E051-4993-04CD192AC52D}"/>
              </a:ext>
            </a:extLst>
          </p:cNvPr>
          <p:cNvSpPr txBox="1"/>
          <p:nvPr/>
        </p:nvSpPr>
        <p:spPr>
          <a:xfrm>
            <a:off x="297820" y="1394102"/>
            <a:ext cx="753288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基于 </a:t>
            </a:r>
            <a:r>
              <a:rPr lang="en-US" altLang="zh-CN" sz="2800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Qt 6 </a:t>
            </a:r>
            <a:r>
              <a:rPr lang="zh-CN" altLang="en-US" sz="28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开发了 </a:t>
            </a:r>
            <a:r>
              <a:rPr lang="en-US" altLang="zh-CN" sz="28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GUI </a:t>
            </a:r>
            <a:r>
              <a:rPr lang="zh-CN" altLang="en-US" sz="28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客户端，支持：</a:t>
            </a:r>
            <a:endParaRPr lang="en-US" altLang="zh-CN" sz="2800" b="1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保存用户名，自动登录；</a:t>
            </a:r>
            <a:endParaRPr lang="en-US" altLang="zh-CN" sz="2400" b="1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行情显示，显示与行情的连接状态；</a:t>
            </a:r>
            <a:endParaRPr lang="en-US" altLang="zh-CN" sz="2400" b="1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设置主题色，自动检测深浅色模式；</a:t>
            </a:r>
            <a:endParaRPr lang="en-US" altLang="zh-CN" sz="2400" b="1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可视化日志。</a:t>
            </a:r>
            <a:endParaRPr lang="en-US" altLang="zh-CN" sz="2400" b="1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altLang="zh-CN" sz="2400" b="1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8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服务器端采用使用线程池，实现：</a:t>
            </a:r>
            <a:endParaRPr lang="en-US" altLang="zh-CN" sz="2800" b="1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多客户端连接；</a:t>
            </a:r>
            <a:endParaRPr lang="en-US" altLang="zh-CN" sz="2400" b="1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守护线程，保证在线时的预警推送；</a:t>
            </a:r>
            <a:endParaRPr lang="en-US" altLang="zh-CN" sz="2400" b="1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使用单例模式保证行情处理器全局唯一。</a:t>
            </a:r>
            <a:endParaRPr lang="en-US" altLang="zh-CN" sz="2400" b="1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CN" sz="2400" b="1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8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数据库采用 </a:t>
            </a:r>
            <a:r>
              <a:rPr lang="en-US" altLang="zh-CN" sz="28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MySQL </a:t>
            </a:r>
            <a:r>
              <a:rPr lang="zh-CN" altLang="en-US" sz="28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维护用户数据与预警单。</a:t>
            </a:r>
            <a:endParaRPr lang="zh-CN" altLang="en-US" sz="2800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C5B3D86-A121-B25C-2640-D4FEB3BF69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519" y="962243"/>
            <a:ext cx="5699146" cy="4419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split orient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DA4AAB7-A7B5-42AB-BBF1-D7221A840B0F}"/>
              </a:ext>
            </a:extLst>
          </p:cNvPr>
          <p:cNvSpPr txBox="1"/>
          <p:nvPr/>
        </p:nvSpPr>
        <p:spPr>
          <a:xfrm>
            <a:off x="3448964" y="2956050"/>
            <a:ext cx="6812906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产品</a:t>
            </a:r>
            <a:r>
              <a:rPr lang="zh-CN" altLang="en-US" sz="6600" b="1" dirty="0">
                <a:solidFill>
                  <a:srgbClr val="CCEC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价值</a:t>
            </a:r>
            <a:endParaRPr kumimoji="1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CCEC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菱形 4">
            <a:extLst>
              <a:ext uri="{FF2B5EF4-FFF2-40B4-BE49-F238E27FC236}">
                <a16:creationId xmlns:a16="http://schemas.microsoft.com/office/drawing/2014/main" id="{81B97623-BAA2-E407-293A-D480819ADCDD}"/>
              </a:ext>
            </a:extLst>
          </p:cNvPr>
          <p:cNvSpPr/>
          <p:nvPr/>
        </p:nvSpPr>
        <p:spPr>
          <a:xfrm>
            <a:off x="520628" y="2564605"/>
            <a:ext cx="2057400" cy="1871663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FC60C1-3336-146E-70D0-09795471A579}"/>
              </a:ext>
            </a:extLst>
          </p:cNvPr>
          <p:cNvSpPr txBox="1"/>
          <p:nvPr/>
        </p:nvSpPr>
        <p:spPr>
          <a:xfrm>
            <a:off x="936455" y="3186872"/>
            <a:ext cx="1260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93A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04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93A9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0064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3BD23E3-BB65-2DD9-97AB-285646265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" y="0"/>
            <a:ext cx="12191319" cy="6858000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>
            <a:off x="0" y="139148"/>
            <a:ext cx="864704" cy="1133061"/>
          </a:xfrm>
          <a:prstGeom prst="rect">
            <a:avLst/>
          </a:prstGeom>
          <a:solidFill>
            <a:srgbClr val="08399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64096" y="139148"/>
            <a:ext cx="210101" cy="1133061"/>
          </a:xfrm>
          <a:prstGeom prst="rect">
            <a:avLst/>
          </a:prstGeom>
          <a:solidFill>
            <a:srgbClr val="08399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273589" y="315483"/>
            <a:ext cx="5665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产品价值</a:t>
            </a:r>
            <a:endParaRPr kumimoji="0" lang="zh-CN" altLang="en-US" sz="4400" b="1" i="0" kern="1200" cap="none" spc="0" normalizeH="0" baseline="0" noProof="0" dirty="0">
              <a:solidFill>
                <a:srgbClr val="08399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E01F2D-C381-49C4-A63F-14A60C6AD167}"/>
              </a:ext>
            </a:extLst>
          </p:cNvPr>
          <p:cNvSpPr txBox="1"/>
          <p:nvPr/>
        </p:nvSpPr>
        <p:spPr>
          <a:xfrm>
            <a:off x="8590679" y="2866877"/>
            <a:ext cx="3069133" cy="510778"/>
          </a:xfrm>
          <a:prstGeom prst="roundRect">
            <a:avLst/>
          </a:prstGeom>
          <a:noFill/>
          <a:ln w="28575">
            <a:solidFill>
              <a:srgbClr val="083996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降本增效，快速迭代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C801DA9-0FB6-F6B2-8923-F6B5497D351E}"/>
              </a:ext>
            </a:extLst>
          </p:cNvPr>
          <p:cNvSpPr txBox="1"/>
          <p:nvPr/>
        </p:nvSpPr>
        <p:spPr>
          <a:xfrm>
            <a:off x="6808764" y="4406130"/>
            <a:ext cx="4249663" cy="510778"/>
          </a:xfrm>
          <a:prstGeom prst="roundRect">
            <a:avLst/>
          </a:prstGeom>
          <a:noFill/>
          <a:ln w="28575">
            <a:solidFill>
              <a:srgbClr val="083996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金融级的数据安全与传输保障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1AC0B2-44AE-C65D-3060-B4C2BC19DBFB}"/>
              </a:ext>
            </a:extLst>
          </p:cNvPr>
          <p:cNvSpPr txBox="1"/>
          <p:nvPr/>
        </p:nvSpPr>
        <p:spPr>
          <a:xfrm>
            <a:off x="1253519" y="4090458"/>
            <a:ext cx="4249663" cy="510778"/>
          </a:xfrm>
          <a:prstGeom prst="roundRect">
            <a:avLst/>
          </a:prstGeom>
          <a:noFill/>
          <a:ln w="28575">
            <a:solidFill>
              <a:srgbClr val="083996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灵活适配，构建交易终端矩阵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F52E3C-3A2F-537F-1055-E32C4D1BDC6B}"/>
              </a:ext>
            </a:extLst>
          </p:cNvPr>
          <p:cNvSpPr txBox="1"/>
          <p:nvPr/>
        </p:nvSpPr>
        <p:spPr>
          <a:xfrm>
            <a:off x="519170" y="2091304"/>
            <a:ext cx="3918366" cy="510778"/>
          </a:xfrm>
          <a:prstGeom prst="roundRect">
            <a:avLst/>
          </a:prstGeom>
          <a:ln w="28575">
            <a:solidFill>
              <a:srgbClr val="08399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毫秒级触达，抢占市场先机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7B2C7C-0D6C-470B-8648-35152032B653}"/>
              </a:ext>
            </a:extLst>
          </p:cNvPr>
          <p:cNvSpPr txBox="1"/>
          <p:nvPr/>
        </p:nvSpPr>
        <p:spPr>
          <a:xfrm>
            <a:off x="5314025" y="1583013"/>
            <a:ext cx="4300769" cy="510778"/>
          </a:xfrm>
          <a:prstGeom prst="roundRect">
            <a:avLst/>
          </a:prstGeom>
          <a:ln w="28575">
            <a:solidFill>
              <a:srgbClr val="08399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8399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从“人肉盯盘”到“智能哨兵”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FD3B1EB-5A0F-B274-E241-C965F4329BFA}"/>
              </a:ext>
            </a:extLst>
          </p:cNvPr>
          <p:cNvCxnSpPr>
            <a:cxnSpLocks/>
          </p:cNvCxnSpPr>
          <p:nvPr/>
        </p:nvCxnSpPr>
        <p:spPr>
          <a:xfrm>
            <a:off x="3633601" y="2602082"/>
            <a:ext cx="841268" cy="395897"/>
          </a:xfrm>
          <a:prstGeom prst="line">
            <a:avLst/>
          </a:prstGeom>
          <a:ln w="28575">
            <a:solidFill>
              <a:srgbClr val="0839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A3F997C-3F6E-D5C9-9050-EB39615FF6AA}"/>
              </a:ext>
            </a:extLst>
          </p:cNvPr>
          <p:cNvCxnSpPr>
            <a:cxnSpLocks/>
          </p:cNvCxnSpPr>
          <p:nvPr/>
        </p:nvCxnSpPr>
        <p:spPr>
          <a:xfrm flipH="1">
            <a:off x="4694738" y="3519888"/>
            <a:ext cx="386921" cy="570570"/>
          </a:xfrm>
          <a:prstGeom prst="line">
            <a:avLst/>
          </a:prstGeom>
          <a:ln w="28575">
            <a:solidFill>
              <a:srgbClr val="0839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86AB2B2-2191-9FFE-CD1D-F54D845F9C3D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7014492" y="2093791"/>
            <a:ext cx="449918" cy="662928"/>
          </a:xfrm>
          <a:prstGeom prst="line">
            <a:avLst/>
          </a:prstGeom>
          <a:ln w="28575">
            <a:solidFill>
              <a:srgbClr val="0839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0F9B73A-74A7-A272-EE63-48C5BC531A4A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7941165" y="3122266"/>
            <a:ext cx="649514" cy="66903"/>
          </a:xfrm>
          <a:prstGeom prst="line">
            <a:avLst/>
          </a:prstGeom>
          <a:ln w="28575">
            <a:solidFill>
              <a:srgbClr val="0839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CFD18F1-3AEA-24AD-88F0-0A4212D9647D}"/>
              </a:ext>
            </a:extLst>
          </p:cNvPr>
          <p:cNvCxnSpPr>
            <a:cxnSpLocks/>
          </p:cNvCxnSpPr>
          <p:nvPr/>
        </p:nvCxnSpPr>
        <p:spPr>
          <a:xfrm>
            <a:off x="7628183" y="3612314"/>
            <a:ext cx="650008" cy="801107"/>
          </a:xfrm>
          <a:prstGeom prst="line">
            <a:avLst/>
          </a:prstGeom>
          <a:ln w="28575">
            <a:solidFill>
              <a:srgbClr val="0839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3">
            <a:extLst>
              <a:ext uri="{FF2B5EF4-FFF2-40B4-BE49-F238E27FC236}">
                <a16:creationId xmlns:a16="http://schemas.microsoft.com/office/drawing/2014/main" id="{244B3661-CF0A-00CE-C761-10207CB55BE7}"/>
              </a:ext>
            </a:extLst>
          </p:cNvPr>
          <p:cNvSpPr txBox="1"/>
          <p:nvPr/>
        </p:nvSpPr>
        <p:spPr>
          <a:xfrm>
            <a:off x="4474869" y="2790166"/>
            <a:ext cx="32335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800" b="1" dirty="0">
                <a:solidFill>
                  <a:srgbClr val="093A9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期货云哨兵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093A97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E26B3A8-310E-4306-2868-0D1329E3B365}"/>
              </a:ext>
            </a:extLst>
          </p:cNvPr>
          <p:cNvSpPr txBox="1"/>
          <p:nvPr/>
        </p:nvSpPr>
        <p:spPr>
          <a:xfrm>
            <a:off x="81184" y="5326405"/>
            <a:ext cx="121104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不仅仅是一个简单的预警系统，更是一个高并发、低延迟、高可靠的金融风控基础设施，既能为 </a:t>
            </a:r>
            <a:r>
              <a:rPr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C 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端散户提供“无人值守”的盯盘体验，也能为 </a:t>
            </a:r>
            <a:r>
              <a:rPr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B 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端机构提供稳健的接入方案。</a:t>
            </a:r>
          </a:p>
          <a:p>
            <a:pPr>
              <a:defRPr/>
            </a:pPr>
            <a:endParaRPr lang="zh-CN" altLang="en-US" sz="28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0552298"/>
      </p:ext>
    </p:extLst>
  </p:cSld>
  <p:clrMapOvr>
    <a:masterClrMapping/>
  </p:clrMapOvr>
  <p:transition>
    <p:split orient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13"/>
          <p:cNvSpPr txBox="1"/>
          <p:nvPr/>
        </p:nvSpPr>
        <p:spPr>
          <a:xfrm>
            <a:off x="2971253" y="1359233"/>
            <a:ext cx="624949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83996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感谢倾听！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83996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恳请批评指正！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1997366" y="3629601"/>
            <a:ext cx="8743950" cy="0"/>
          </a:xfrm>
          <a:prstGeom prst="line">
            <a:avLst/>
          </a:prstGeom>
          <a:ln w="15875">
            <a:solidFill>
              <a:srgbClr val="0839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图: 接点 6"/>
          <p:cNvSpPr/>
          <p:nvPr/>
        </p:nvSpPr>
        <p:spPr>
          <a:xfrm>
            <a:off x="1883363" y="3547938"/>
            <a:ext cx="142874" cy="148211"/>
          </a:xfrm>
          <a:prstGeom prst="flowChartConnector">
            <a:avLst/>
          </a:prstGeom>
          <a:solidFill>
            <a:srgbClr val="0839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35516" y="3858201"/>
            <a:ext cx="7019925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3600" b="1" dirty="0">
              <a:solidFill>
                <a:srgbClr val="083996"/>
              </a:solidFill>
              <a:latin typeface="华文行楷" panose="02010800040101010101" pitchFamily="2" charset="-122"/>
              <a:ea typeface="华文行楷" panose="02010800040101010101" pitchFamily="2" charset="-122"/>
              <a:sym typeface="+mn-ea"/>
            </a:endParaRPr>
          </a:p>
          <a:p>
            <a:pPr algn="ctr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093A9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答辩小组：项目一</a:t>
            </a:r>
            <a:r>
              <a:rPr lang="en-US" altLang="zh-CN" sz="2800" b="1" dirty="0">
                <a:solidFill>
                  <a:srgbClr val="093A9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2800" b="1" dirty="0">
                <a:solidFill>
                  <a:srgbClr val="093A9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第一小组</a:t>
            </a:r>
            <a:endParaRPr lang="en-US" altLang="zh-CN" sz="2800" b="1" dirty="0">
              <a:solidFill>
                <a:srgbClr val="093A97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spcBef>
                <a:spcPct val="20000"/>
              </a:spcBef>
              <a:defRPr/>
            </a:pPr>
            <a:endParaRPr lang="en-US" altLang="zh-CN" sz="1000" b="1" dirty="0">
              <a:solidFill>
                <a:srgbClr val="093A97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spcBef>
                <a:spcPct val="20000"/>
              </a:spcBef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93A97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2025.12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83996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6eb98ed-5b04-4265-9ab0-2cf1061c17bb"/>
  <p:tag name="COMMONDATA" val="eyJoZGlkIjoiNTNlYzU2NDZlZWRhZGY1YzdjNGExMDUwNGJjODllMj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200}"/>
</p:tagLst>
</file>

<file path=ppt/theme/theme1.xml><?xml version="1.0" encoding="utf-8"?>
<a:theme xmlns:a="http://schemas.openxmlformats.org/drawingml/2006/main" name="主题2">
  <a:themeElements>
    <a:clrScheme name="孔雀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3D589"/>
      </a:accent1>
      <a:accent2>
        <a:srgbClr val="2B8A59"/>
      </a:accent2>
      <a:accent3>
        <a:srgbClr val="5DD642"/>
      </a:accent3>
      <a:accent4>
        <a:srgbClr val="3C8A2B"/>
      </a:accent4>
      <a:accent5>
        <a:srgbClr val="292929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主题2">
  <a:themeElements>
    <a:clrScheme name="孔雀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3D589"/>
      </a:accent1>
      <a:accent2>
        <a:srgbClr val="2B8A59"/>
      </a:accent2>
      <a:accent3>
        <a:srgbClr val="5DD642"/>
      </a:accent3>
      <a:accent4>
        <a:srgbClr val="3C8A2B"/>
      </a:accent4>
      <a:accent5>
        <a:srgbClr val="292929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4617</TotalTime>
  <Words>532</Words>
  <Application>Microsoft Office PowerPoint</Application>
  <PresentationFormat>宽屏</PresentationFormat>
  <Paragraphs>95</Paragraphs>
  <Slides>12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等线</vt:lpstr>
      <vt:lpstr>等线 Light</vt:lpstr>
      <vt:lpstr>华文新魏</vt:lpstr>
      <vt:lpstr>华文行楷</vt:lpstr>
      <vt:lpstr>微软雅黑</vt:lpstr>
      <vt:lpstr>幼圆</vt:lpstr>
      <vt:lpstr>Arial</vt:lpstr>
      <vt:lpstr>Calibri</vt:lpstr>
      <vt:lpstr>Calibri Light</vt:lpstr>
      <vt:lpstr>Wingdings</vt:lpstr>
      <vt:lpstr>主题2</vt:lpstr>
      <vt:lpstr>2_主题2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春盛 时</dc:creator>
  <cp:lastModifiedBy>骁纯 李</cp:lastModifiedBy>
  <cp:revision>116</cp:revision>
  <dcterms:created xsi:type="dcterms:W3CDTF">2021-10-15T03:25:00Z</dcterms:created>
  <dcterms:modified xsi:type="dcterms:W3CDTF">2025-12-04T23:15:23Z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882FB2CC2F6C4CCAA10AD9801D5422C9</vt:lpwstr>
  </property>
  <property fmtid="{D5CDD505-2E9C-101B-9397-08002B2CF9AE}" pid="3" name="KSOProductBuildVer">
    <vt:lpwstr>2052-11.1.0.12598</vt:lpwstr>
  </property>
</Properties>
</file>